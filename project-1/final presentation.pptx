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nter Bold" charset="1" panose="020B0802030000000004"/>
      <p:regular r:id="rId18"/>
    </p:embeddedFont>
    <p:embeddedFont>
      <p:font typeface="Inter" charset="1" panose="020B0502030000000004"/>
      <p:regular r:id="rId19"/>
    </p:embeddedFont>
    <p:embeddedFont>
      <p:font typeface="Inter Heavy" charset="1" panose="0200050300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45202" y="1140872"/>
            <a:ext cx="14597596" cy="768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4"/>
              </a:lnSpc>
            </a:pPr>
            <a:r>
              <a:rPr lang="en-US" b="true" sz="37084" spc="-4375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SPAM</a:t>
            </a:r>
          </a:p>
          <a:p>
            <a:pPr algn="ctr" marL="0" indent="0" lvl="0">
              <a:lnSpc>
                <a:spcPts val="28184"/>
              </a:lnSpc>
            </a:pPr>
            <a:r>
              <a:rPr lang="en-US" b="true" sz="37084" spc="-4375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HAM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86126" y="9305925"/>
            <a:ext cx="2513344" cy="43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4"/>
              </a:lnSpc>
            </a:pPr>
            <a:r>
              <a:rPr lang="en-US" b="true" sz="1800" spc="-54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PROJECT-1</a:t>
            </a:r>
          </a:p>
          <a:p>
            <a:pPr algn="r" marL="0" indent="0" lvl="0">
              <a:lnSpc>
                <a:spcPts val="1674"/>
              </a:lnSpc>
            </a:pPr>
            <a:r>
              <a:rPr lang="en-US" b="true" sz="1800" spc="-54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MAIBASSAR MIRAS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8530" y="9305925"/>
            <a:ext cx="2513344" cy="43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4"/>
              </a:lnSpc>
            </a:pPr>
            <a:r>
              <a:rPr lang="en-US" b="true" sz="1800" spc="-54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NATURAL LANGUAGE PROCESSING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2157" y="1381125"/>
            <a:ext cx="12099790" cy="1057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35"/>
              </a:lnSpc>
            </a:pPr>
            <a:r>
              <a:rPr lang="en-US" b="true" sz="9285" spc="-74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2157" y="6339080"/>
            <a:ext cx="6617690" cy="198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5"/>
              </a:lnSpc>
            </a:pPr>
            <a:r>
              <a:rPr lang="en-US" sz="2812" spc="-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MAIN OBJECTIVE IS TO CLASSIFY TEXT MESSAGES BASED ON THEIR CONTENT, USING NATURAL LANGUAGE PROCESSING (NLP) TECHNIQUES AND CLASSICAL MACHINE LEARNING ALGORITHMS.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2157" y="3858980"/>
            <a:ext cx="6063205" cy="145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75"/>
              </a:lnSpc>
            </a:pPr>
            <a:r>
              <a:rPr lang="en-US" b="true" sz="2446" spc="-7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THIS</a:t>
            </a:r>
            <a:r>
              <a:rPr lang="en-US" b="true" sz="2446" spc="-7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 PROJECT IMPLEMENTS AN AUTOMATIC TEXT CLASSIFICATION SYSTEM THAT IDENTIFIES WHETHER A MESSAGE IS SPAM OR HAM (NON-SPAM).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11609" y="4462195"/>
            <a:ext cx="5894942" cy="663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b="true" sz="2218" spc="-6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PROJECT DEMONSTRATES</a:t>
            </a:r>
            <a:r>
              <a:rPr lang="en-US" b="true" sz="2218" spc="-66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THE COMPLETE NLP WORKFLOW: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11609" y="5967247"/>
            <a:ext cx="9776391" cy="1219815"/>
            <a:chOff x="0" y="0"/>
            <a:chExt cx="13035188" cy="1626421"/>
          </a:xfrm>
        </p:grpSpPr>
        <p:sp>
          <p:nvSpPr>
            <p:cNvPr name="AutoShape 7" id="7"/>
            <p:cNvSpPr/>
            <p:nvPr/>
          </p:nvSpPr>
          <p:spPr>
            <a:xfrm>
              <a:off x="0" y="23481"/>
              <a:ext cx="13035188" cy="0"/>
            </a:xfrm>
            <a:prstGeom prst="line">
              <a:avLst/>
            </a:prstGeom>
            <a:ln cap="flat" w="46962">
              <a:solidFill>
                <a:srgbClr val="C72A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0" y="755815"/>
              <a:ext cx="13035188" cy="0"/>
            </a:xfrm>
            <a:prstGeom prst="line">
              <a:avLst/>
            </a:prstGeom>
            <a:ln cap="flat" w="46962">
              <a:solidFill>
                <a:srgbClr val="C72A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1602940"/>
              <a:ext cx="13035188" cy="0"/>
            </a:xfrm>
            <a:prstGeom prst="line">
              <a:avLst/>
            </a:prstGeom>
            <a:ln cap="flat" w="46962">
              <a:solidFill>
                <a:srgbClr val="C72A0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8511609" y="5289751"/>
            <a:ext cx="7569874" cy="1726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014" indent="-239507" lvl="1">
              <a:lnSpc>
                <a:spcPts val="4792"/>
              </a:lnSpc>
              <a:buFont typeface="Arial"/>
              <a:buChar char="•"/>
            </a:pPr>
            <a:r>
              <a:rPr lang="en-US" b="true" sz="2218" spc="-66">
                <a:solidFill>
                  <a:srgbClr val="CA0013"/>
                </a:solidFill>
                <a:latin typeface="Inter Heavy"/>
                <a:ea typeface="Inter Heavy"/>
                <a:cs typeface="Inter Heavy"/>
                <a:sym typeface="Inter Heavy"/>
              </a:rPr>
              <a:t>DATA PREPROCESSING AND TEXT CLEANING</a:t>
            </a:r>
          </a:p>
          <a:p>
            <a:pPr algn="l" marL="479014" indent="-239507" lvl="1">
              <a:lnSpc>
                <a:spcPts val="4792"/>
              </a:lnSpc>
              <a:buFont typeface="Arial"/>
              <a:buChar char="•"/>
            </a:pPr>
            <a:r>
              <a:rPr lang="en-US" b="true" sz="2218" spc="-66">
                <a:solidFill>
                  <a:srgbClr val="CA0013"/>
                </a:solidFill>
                <a:latin typeface="Inter Heavy"/>
                <a:ea typeface="Inter Heavy"/>
                <a:cs typeface="Inter Heavy"/>
                <a:sym typeface="Inter Heavy"/>
              </a:rPr>
              <a:t>MODEL TRAINING</a:t>
            </a:r>
          </a:p>
          <a:p>
            <a:pPr algn="l" marL="479014" indent="-239507" lvl="1">
              <a:lnSpc>
                <a:spcPts val="4792"/>
              </a:lnSpc>
              <a:buFont typeface="Arial"/>
              <a:buChar char="•"/>
            </a:pPr>
            <a:r>
              <a:rPr lang="en-US" b="true" sz="2218" spc="-66">
                <a:solidFill>
                  <a:srgbClr val="CA0013"/>
                </a:solidFill>
                <a:latin typeface="Inter Heavy"/>
                <a:ea typeface="Inter Heavy"/>
                <a:cs typeface="Inter Heavy"/>
                <a:sym typeface="Inter Heavy"/>
              </a:rPr>
              <a:t>P</a:t>
            </a:r>
            <a:r>
              <a:rPr lang="en-US" b="true" sz="2218" spc="-66">
                <a:solidFill>
                  <a:srgbClr val="CA0013"/>
                </a:solidFill>
                <a:latin typeface="Inter Heavy"/>
                <a:ea typeface="Inter Heavy"/>
                <a:cs typeface="Inter Heavy"/>
                <a:sym typeface="Inter Heavy"/>
              </a:rPr>
              <a:t>ERFORMANCE EVALUATION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77713" y="1891832"/>
            <a:ext cx="11532574" cy="231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09"/>
              </a:lnSpc>
            </a:pPr>
            <a:r>
              <a:rPr lang="en-US" b="true" sz="10910" spc="-76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WHAT WE DO &amp; METHODS USED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31299" y="770169"/>
            <a:ext cx="2513344" cy="43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b="true" sz="1800" spc="-54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PRESENTED BY</a:t>
            </a:r>
          </a:p>
          <a:p>
            <a:pPr algn="l" marL="0" indent="0" lvl="0">
              <a:lnSpc>
                <a:spcPts val="1674"/>
              </a:lnSpc>
            </a:pPr>
            <a:r>
              <a:rPr lang="en-US" b="true" sz="1800" spc="-54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MIRAS MAIBASSAR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071052" y="5086350"/>
            <a:ext cx="4959220" cy="342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9"/>
              </a:lnSpc>
            </a:pPr>
            <a:r>
              <a:rPr lang="en-US" b="true" sz="2456" spc="-7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Methods Used</a:t>
            </a:r>
          </a:p>
          <a:p>
            <a:pPr algn="l" marL="530460" indent="-265230" lvl="1">
              <a:lnSpc>
                <a:spcPts val="3439"/>
              </a:lnSpc>
              <a:buFont typeface="Arial"/>
              <a:buChar char="•"/>
            </a:pPr>
            <a:r>
              <a:rPr lang="en-US" b="true" sz="2456" spc="-7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Natural Language Processing (NLP)</a:t>
            </a:r>
          </a:p>
          <a:p>
            <a:pPr algn="l" marL="530460" indent="-265230" lvl="1">
              <a:lnSpc>
                <a:spcPts val="3439"/>
              </a:lnSpc>
              <a:buFont typeface="Arial"/>
              <a:buChar char="•"/>
            </a:pPr>
            <a:r>
              <a:rPr lang="en-US" b="true" sz="2456" spc="-7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Bag-of-Words representation</a:t>
            </a:r>
          </a:p>
          <a:p>
            <a:pPr algn="l" marL="530460" indent="-265230" lvl="1">
              <a:lnSpc>
                <a:spcPts val="3439"/>
              </a:lnSpc>
              <a:buFont typeface="Arial"/>
              <a:buChar char="•"/>
            </a:pPr>
            <a:r>
              <a:rPr lang="en-US" b="true" sz="2456" spc="-7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Naive Bayes classifier</a:t>
            </a:r>
          </a:p>
          <a:p>
            <a:pPr algn="l" marL="530460" indent="-265230" lvl="1">
              <a:lnSpc>
                <a:spcPts val="3439"/>
              </a:lnSpc>
              <a:buFont typeface="Arial"/>
              <a:buChar char="•"/>
            </a:pPr>
            <a:r>
              <a:rPr lang="en-US" b="true" sz="2456" spc="-7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Laplace smoothing</a:t>
            </a:r>
          </a:p>
          <a:p>
            <a:pPr algn="l" marL="530460" indent="-265230" lvl="1">
              <a:lnSpc>
                <a:spcPts val="3439"/>
              </a:lnSpc>
              <a:buFont typeface="Arial"/>
              <a:buChar char="•"/>
            </a:pPr>
            <a:r>
              <a:rPr lang="en-US" b="true" sz="2456" spc="-7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Log-probabilities for numerical stability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48207" y="5086350"/>
            <a:ext cx="6595793" cy="4280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9"/>
              </a:lnSpc>
            </a:pPr>
            <a:r>
              <a:rPr lang="en-US" sz="2456" spc="-7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</a:t>
            </a:r>
            <a:r>
              <a:rPr lang="en-US" b="true" sz="2456" spc="-7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hat We Do</a:t>
            </a:r>
          </a:p>
          <a:p>
            <a:pPr algn="l" marL="530460" indent="-265230" lvl="1">
              <a:lnSpc>
                <a:spcPts val="3439"/>
              </a:lnSpc>
              <a:buFont typeface="Arial"/>
              <a:buChar char="•"/>
            </a:pPr>
            <a:r>
              <a:rPr lang="en-US" b="true" sz="2456" spc="-7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Lo</a:t>
            </a:r>
            <a:r>
              <a:rPr lang="en-US" b="true" sz="2456" spc="-7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ad a dataset of text messages</a:t>
            </a:r>
          </a:p>
          <a:p>
            <a:pPr algn="l" marL="530460" indent="-265230" lvl="1">
              <a:lnSpc>
                <a:spcPts val="3439"/>
              </a:lnSpc>
              <a:buFont typeface="Arial"/>
              <a:buChar char="•"/>
            </a:pPr>
            <a:r>
              <a:rPr lang="en-US" b="true" sz="2456" spc="-7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Clean and normalize the text data</a:t>
            </a:r>
          </a:p>
          <a:p>
            <a:pPr algn="l" marL="530460" indent="-265230" lvl="1">
              <a:lnSpc>
                <a:spcPts val="3439"/>
              </a:lnSpc>
              <a:buFont typeface="Arial"/>
              <a:buChar char="•"/>
            </a:pPr>
            <a:r>
              <a:rPr lang="en-US" b="true" sz="2456" spc="-7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Convert textual labels into numerical format</a:t>
            </a:r>
          </a:p>
          <a:p>
            <a:pPr algn="l" marL="530460" indent="-265230" lvl="1">
              <a:lnSpc>
                <a:spcPts val="3439"/>
              </a:lnSpc>
              <a:buFont typeface="Arial"/>
              <a:buChar char="•"/>
            </a:pPr>
            <a:r>
              <a:rPr lang="en-US" b="true" sz="2456" spc="-7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Split the dataset into:</a:t>
            </a:r>
          </a:p>
          <a:p>
            <a:pPr algn="l" marL="1060920" indent="-353640" lvl="2">
              <a:lnSpc>
                <a:spcPts val="3439"/>
              </a:lnSpc>
              <a:buFont typeface="Arial"/>
              <a:buChar char="⚬"/>
            </a:pPr>
            <a:r>
              <a:rPr lang="en-US" b="true" sz="2456" spc="-7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training set</a:t>
            </a:r>
          </a:p>
          <a:p>
            <a:pPr algn="l" marL="1060920" indent="-353640" lvl="2">
              <a:lnSpc>
                <a:spcPts val="3439"/>
              </a:lnSpc>
              <a:buFont typeface="Arial"/>
              <a:buChar char="⚬"/>
            </a:pPr>
            <a:r>
              <a:rPr lang="en-US" b="true" sz="2456" spc="-7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validation set</a:t>
            </a:r>
          </a:p>
          <a:p>
            <a:pPr algn="l" marL="1060920" indent="-353640" lvl="2">
              <a:lnSpc>
                <a:spcPts val="3439"/>
              </a:lnSpc>
              <a:buFont typeface="Arial"/>
              <a:buChar char="⚬"/>
            </a:pPr>
            <a:r>
              <a:rPr lang="en-US" b="true" sz="2456" spc="-7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test set</a:t>
            </a:r>
          </a:p>
          <a:p>
            <a:pPr algn="l" marL="530460" indent="-265230" lvl="1">
              <a:lnSpc>
                <a:spcPts val="3439"/>
              </a:lnSpc>
              <a:buFont typeface="Arial"/>
              <a:buChar char="•"/>
            </a:pPr>
            <a:r>
              <a:rPr lang="en-US" b="true" sz="2456" spc="-7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Train a text classification model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64742" y="297238"/>
            <a:ext cx="2947439" cy="2947439"/>
          </a:xfrm>
          <a:custGeom>
            <a:avLst/>
            <a:gdLst/>
            <a:ahLst/>
            <a:cxnLst/>
            <a:rect r="r" b="b" t="t" l="l"/>
            <a:pathLst>
              <a:path h="2947439" w="2947439">
                <a:moveTo>
                  <a:pt x="0" y="0"/>
                </a:moveTo>
                <a:lnTo>
                  <a:pt x="2947438" y="0"/>
                </a:lnTo>
                <a:lnTo>
                  <a:pt x="2947438" y="2947439"/>
                </a:lnTo>
                <a:lnTo>
                  <a:pt x="0" y="2947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48374" y="906549"/>
            <a:ext cx="6870406" cy="2338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18"/>
              </a:lnSpc>
            </a:pPr>
            <a:r>
              <a:rPr lang="en-US" b="true" sz="10910" spc="-128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GOAL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1290" y="6367718"/>
            <a:ext cx="10547944" cy="249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9"/>
              </a:lnSpc>
            </a:pPr>
            <a:r>
              <a:rPr lang="en-US" sz="2392" spc="-21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Expected </a:t>
            </a:r>
            <a:r>
              <a:rPr lang="en-US" sz="2392" spc="-21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Outcome</a:t>
            </a:r>
          </a:p>
          <a:p>
            <a:pPr algn="l" marL="516596" indent="-258298" lvl="1">
              <a:lnSpc>
                <a:spcPts val="3349"/>
              </a:lnSpc>
              <a:buFont typeface="Arial"/>
              <a:buChar char="•"/>
            </a:pPr>
            <a:r>
              <a:rPr lang="en-US" sz="2392" spc="-21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Accurate classification of unseen messages</a:t>
            </a:r>
          </a:p>
          <a:p>
            <a:pPr algn="l" marL="516596" indent="-258298" lvl="1">
              <a:lnSpc>
                <a:spcPts val="3349"/>
              </a:lnSpc>
              <a:buFont typeface="Arial"/>
              <a:buChar char="•"/>
            </a:pPr>
            <a:r>
              <a:rPr lang="en-US" sz="2392" spc="-21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High accuracy on validation and test datasets</a:t>
            </a:r>
          </a:p>
          <a:p>
            <a:pPr algn="l" marL="516596" indent="-258298" lvl="1">
              <a:lnSpc>
                <a:spcPts val="3349"/>
              </a:lnSpc>
              <a:buFont typeface="Arial"/>
              <a:buChar char="•"/>
            </a:pPr>
            <a:r>
              <a:rPr lang="en-US" sz="2392" spc="-21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Clear understanding of probabilistic models in NLP</a:t>
            </a:r>
          </a:p>
          <a:p>
            <a:pPr algn="l" marL="516596" indent="-258298" lvl="1">
              <a:lnSpc>
                <a:spcPts val="3349"/>
              </a:lnSpc>
              <a:buFont typeface="Arial"/>
              <a:buChar char="•"/>
            </a:pPr>
            <a:r>
              <a:rPr lang="en-US" sz="2392" spc="-21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scalable and extensible solution for text classification tasks</a:t>
            </a:r>
          </a:p>
          <a:p>
            <a:pPr algn="l" marL="0" indent="0" lvl="0">
              <a:lnSpc>
                <a:spcPts val="334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752224" y="4045381"/>
            <a:ext cx="6507076" cy="442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6"/>
              </a:lnSpc>
            </a:pPr>
            <a:r>
              <a:rPr lang="en-US" sz="2705" b="true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WHY THIS PROJECT MATTERS</a:t>
            </a:r>
          </a:p>
          <a:p>
            <a:pPr algn="l">
              <a:lnSpc>
                <a:spcPts val="2516"/>
              </a:lnSpc>
            </a:pPr>
          </a:p>
          <a:p>
            <a:pPr algn="l" marL="584191" indent="-292096" lvl="1">
              <a:lnSpc>
                <a:spcPts val="2516"/>
              </a:lnSpc>
              <a:buFont typeface="Arial"/>
              <a:buChar char="•"/>
            </a:pPr>
            <a:r>
              <a:rPr lang="en-US" sz="270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SPAM DETECTION IS A REAL-WORLD NLP PROBLEM</a:t>
            </a:r>
          </a:p>
          <a:p>
            <a:pPr algn="l" marL="584191" indent="-292096" lvl="1">
              <a:lnSpc>
                <a:spcPts val="2516"/>
              </a:lnSpc>
              <a:buFont typeface="Arial"/>
              <a:buChar char="•"/>
            </a:pPr>
            <a:r>
              <a:rPr lang="en-US" sz="270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TEXT DATA REQUIRES PREPROCESSING AND PROBABILISTIC REASONING</a:t>
            </a:r>
          </a:p>
          <a:p>
            <a:pPr algn="l" marL="584191" indent="-292096" lvl="1">
              <a:lnSpc>
                <a:spcPts val="2516"/>
              </a:lnSpc>
              <a:buFont typeface="Arial"/>
              <a:buChar char="•"/>
            </a:pPr>
            <a:r>
              <a:rPr lang="en-US" sz="270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NAIVE BAYES PROVIDES STRONG BASELINES FOR TEXT CLASSIFICATION</a:t>
            </a:r>
          </a:p>
          <a:p>
            <a:pPr algn="l" marL="584191" indent="-292096" lvl="1">
              <a:lnSpc>
                <a:spcPts val="2516"/>
              </a:lnSpc>
              <a:buFont typeface="Arial"/>
              <a:buChar char="•"/>
            </a:pPr>
            <a:r>
              <a:rPr lang="en-US" sz="270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INTERPRETABILITY IS CRITICAL FOR TRUST AND ANALYSIS</a:t>
            </a:r>
          </a:p>
          <a:p>
            <a:pPr algn="l" marL="0" indent="0" lvl="0">
              <a:lnSpc>
                <a:spcPts val="251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31290" y="4045381"/>
            <a:ext cx="6905747" cy="133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99"/>
              </a:lnSpc>
            </a:pPr>
            <a:r>
              <a:rPr lang="en-US" b="true" sz="2795" spc="-8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TO BUILD AN INTERPRETABLE AND EFFICIENT MODEL CAPABLE OF AUTOMATICALLY DETECTING SPAM MESSAGES BASED ON TEXT CONTENT.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2706" y="299664"/>
            <a:ext cx="9696034" cy="840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8"/>
              </a:lnSpc>
            </a:pPr>
            <a:r>
              <a:rPr lang="en-US" b="true" sz="3445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DATASET CLASS — PREPROCESSING &amp; LABEL ENCODING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2706" y="2156619"/>
            <a:ext cx="7934974" cy="5043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31"/>
              </a:lnSpc>
            </a:pPr>
            <a:r>
              <a:rPr lang="en-US" sz="3165" spc="-28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</a:t>
            </a:r>
            <a:r>
              <a:rPr lang="en-US" sz="3165" spc="-28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lang="en-US" b="true" sz="3165" spc="-28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Dataset </a:t>
            </a:r>
            <a:r>
              <a:rPr lang="en-US" sz="3165" spc="-28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class is responsible for preparing raw SMS messages</a:t>
            </a:r>
          </a:p>
          <a:p>
            <a:pPr algn="l" marL="0" indent="0" lvl="0">
              <a:lnSpc>
                <a:spcPts val="4431"/>
              </a:lnSpc>
            </a:pPr>
            <a:r>
              <a:rPr lang="en-US" sz="3165" spc="-28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for machine learning.</a:t>
            </a:r>
          </a:p>
          <a:p>
            <a:pPr algn="l" marL="0" indent="0" lvl="0">
              <a:lnSpc>
                <a:spcPts val="4431"/>
              </a:lnSpc>
            </a:pPr>
            <a:r>
              <a:rPr lang="en-US" sz="3165" spc="-28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 performs text cleaning, label encoding,</a:t>
            </a:r>
          </a:p>
          <a:p>
            <a:pPr algn="l" marL="0" indent="0" lvl="0">
              <a:lnSpc>
                <a:spcPts val="4431"/>
              </a:lnSpc>
            </a:pPr>
            <a:r>
              <a:rPr lang="en-US" sz="3165" spc="-28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prepares the data for training and evaluation.</a:t>
            </a:r>
          </a:p>
          <a:p>
            <a:pPr algn="l" marL="0" indent="0" lvl="0">
              <a:lnSpc>
                <a:spcPts val="4431"/>
              </a:lnSpc>
            </a:pPr>
            <a:r>
              <a:rPr lang="en-US" sz="3165" spc="-28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goal is to transform unstructured text</a:t>
            </a:r>
          </a:p>
          <a:p>
            <a:pPr algn="l" marL="0" indent="0" lvl="0">
              <a:lnSpc>
                <a:spcPts val="4431"/>
              </a:lnSpc>
            </a:pPr>
            <a:r>
              <a:rPr lang="en-US" sz="3165" spc="-28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into a clean and numerical format suitable for a classifier.</a:t>
            </a:r>
          </a:p>
          <a:p>
            <a:pPr algn="l" marL="0" indent="0" lvl="0">
              <a:lnSpc>
                <a:spcPts val="443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22706" y="7266746"/>
            <a:ext cx="7909127" cy="618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4"/>
              </a:lnSpc>
            </a:pPr>
            <a:r>
              <a:rPr lang="en-US" b="true" sz="2563" spc="-76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TEXT DATA → MACHINE-READABLE FORMAT</a:t>
            </a:r>
          </a:p>
          <a:p>
            <a:pPr algn="l" marL="0" indent="0" lvl="0">
              <a:lnSpc>
                <a:spcPts val="238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984798" y="9286875"/>
            <a:ext cx="2274502" cy="40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4"/>
              </a:lnSpc>
            </a:pPr>
            <a:r>
              <a:rPr lang="en-US" b="true" sz="1628" spc="-4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PRESENTED BY</a:t>
            </a:r>
          </a:p>
          <a:p>
            <a:pPr algn="l" marL="0" indent="0" lvl="0">
              <a:lnSpc>
                <a:spcPts val="1514"/>
              </a:lnSpc>
            </a:pPr>
            <a:r>
              <a:rPr lang="en-US" b="true" sz="1628" spc="-4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MIRAS MAIBASSAR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13759000" y="1028700"/>
            <a:ext cx="0" cy="6844656"/>
          </a:xfrm>
          <a:prstGeom prst="line">
            <a:avLst/>
          </a:prstGeom>
          <a:ln cap="flat" w="19050">
            <a:solidFill>
              <a:srgbClr val="C72A0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9807818" y="1760547"/>
            <a:ext cx="3474932" cy="536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b="true" sz="2553" spc="-76">
                <a:solidFill>
                  <a:srgbClr val="CA0013"/>
                </a:solidFill>
                <a:latin typeface="Inter Heavy"/>
                <a:ea typeface="Inter Heavy"/>
                <a:cs typeface="Inter Heavy"/>
                <a:sym typeface="Inter Heavy"/>
              </a:rPr>
              <a:t>TEXT PREPROCESSING</a:t>
            </a:r>
          </a:p>
          <a:p>
            <a:pPr algn="l">
              <a:lnSpc>
                <a:spcPts val="2374"/>
              </a:lnSpc>
            </a:pPr>
          </a:p>
          <a:p>
            <a:pPr algn="l">
              <a:lnSpc>
                <a:spcPts val="2374"/>
              </a:lnSpc>
            </a:pPr>
            <a:r>
              <a:rPr lang="en-US" sz="2553" spc="-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Lowercas</a:t>
            </a:r>
            <a:r>
              <a:rPr lang="en-US" sz="2553" spc="-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 ALL MESSAGES</a:t>
            </a:r>
          </a:p>
          <a:p>
            <a:pPr algn="l">
              <a:lnSpc>
                <a:spcPts val="2374"/>
              </a:lnSpc>
            </a:pPr>
          </a:p>
          <a:p>
            <a:pPr algn="l">
              <a:lnSpc>
                <a:spcPts val="2374"/>
              </a:lnSpc>
            </a:pPr>
            <a:r>
              <a:rPr lang="en-US" sz="2553" spc="-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• REMOVING PUNCTUATION USING REGULAR EXPRESSIONS</a:t>
            </a:r>
          </a:p>
          <a:p>
            <a:pPr algn="l">
              <a:lnSpc>
                <a:spcPts val="2374"/>
              </a:lnSpc>
            </a:pPr>
          </a:p>
          <a:p>
            <a:pPr algn="l">
              <a:lnSpc>
                <a:spcPts val="2374"/>
              </a:lnSpc>
            </a:pPr>
            <a:r>
              <a:rPr lang="en-US" sz="2553" spc="-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• NORMALIZING RAW TEXT INPUT</a:t>
            </a:r>
          </a:p>
          <a:p>
            <a:pPr algn="l" marL="0" indent="0" lvl="0">
              <a:lnSpc>
                <a:spcPts val="2374"/>
              </a:lnSpc>
            </a:pPr>
            <a:r>
              <a:rPr lang="en-US" sz="2553" spc="-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REDUCES NOISE AND IMPROVES MODEL PERFORMANCE.</a:t>
            </a:r>
          </a:p>
          <a:p>
            <a:pPr algn="l" marL="0" indent="0" lvl="0">
              <a:lnSpc>
                <a:spcPts val="237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235250" y="1771130"/>
            <a:ext cx="3488685" cy="505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b="true" sz="2554" spc="-76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LABEL ENCODING</a:t>
            </a:r>
          </a:p>
          <a:p>
            <a:pPr algn="l">
              <a:lnSpc>
                <a:spcPts val="2375"/>
              </a:lnSpc>
            </a:pPr>
          </a:p>
          <a:p>
            <a:pPr algn="l">
              <a:lnSpc>
                <a:spcPts val="2375"/>
              </a:lnSpc>
            </a:pPr>
            <a:r>
              <a:rPr lang="en-US" sz="2554" spc="-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Class label</a:t>
            </a:r>
            <a:r>
              <a:rPr lang="en-US" sz="2554" spc="-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 ARE CONVERTED TO NUMBERS</a:t>
            </a:r>
          </a:p>
          <a:p>
            <a:pPr algn="l">
              <a:lnSpc>
                <a:spcPts val="2375"/>
              </a:lnSpc>
            </a:pPr>
          </a:p>
          <a:p>
            <a:pPr algn="l">
              <a:lnSpc>
                <a:spcPts val="2375"/>
              </a:lnSpc>
            </a:pPr>
            <a:r>
              <a:rPr lang="en-US" sz="2554" spc="-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LABEL2NUM: LABEL → NUMERIC VALUE</a:t>
            </a:r>
          </a:p>
          <a:p>
            <a:pPr algn="l">
              <a:lnSpc>
                <a:spcPts val="2375"/>
              </a:lnSpc>
            </a:pPr>
          </a:p>
          <a:p>
            <a:pPr algn="l">
              <a:lnSpc>
                <a:spcPts val="2375"/>
              </a:lnSpc>
            </a:pPr>
            <a:r>
              <a:rPr lang="en-US" sz="2554" spc="-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NUM2LABEL: NUMERIC VALUE → LABEL</a:t>
            </a:r>
          </a:p>
          <a:p>
            <a:pPr algn="l" marL="0" indent="0" lvl="0">
              <a:lnSpc>
                <a:spcPts val="2375"/>
              </a:lnSpc>
            </a:pPr>
            <a:r>
              <a:rPr lang="en-US" sz="2554" spc="-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ALLOWS THE MODEL TO WORK WITH CATEGORICAL CLASSES.</a:t>
            </a:r>
          </a:p>
          <a:p>
            <a:pPr algn="l" marL="0" indent="0" lvl="0">
              <a:lnSpc>
                <a:spcPts val="237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75018" y="2583641"/>
            <a:ext cx="6337963" cy="5119718"/>
            <a:chOff x="0" y="0"/>
            <a:chExt cx="1972955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72955" cy="1593725"/>
            </a:xfrm>
            <a:custGeom>
              <a:avLst/>
              <a:gdLst/>
              <a:ahLst/>
              <a:cxnLst/>
              <a:rect r="r" b="b" t="t" l="l"/>
              <a:pathLst>
                <a:path h="1593725" w="1972955">
                  <a:moveTo>
                    <a:pt x="0" y="0"/>
                  </a:moveTo>
                  <a:lnTo>
                    <a:pt x="1972955" y="0"/>
                  </a:lnTo>
                  <a:lnTo>
                    <a:pt x="1972955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0621" t="0" r="-1062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22706" y="699714"/>
            <a:ext cx="7064793" cy="395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1"/>
              </a:lnSpc>
            </a:pPr>
            <a:r>
              <a:rPr lang="en-US" b="true" sz="12647" spc="-1492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NAIVE BAYES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36290" y="9065547"/>
            <a:ext cx="2513344" cy="43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b="true" sz="1800" spc="-54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PRESENTED BY</a:t>
            </a:r>
          </a:p>
          <a:p>
            <a:pPr algn="l" marL="0" indent="0" lvl="0">
              <a:lnSpc>
                <a:spcPts val="1674"/>
              </a:lnSpc>
            </a:pPr>
            <a:r>
              <a:rPr lang="en-US" b="true" sz="1800" spc="-54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MIRAS MAIBASSAR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01596" y="1085850"/>
            <a:ext cx="3381820" cy="58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2"/>
              </a:lnSpc>
            </a:pPr>
            <a:r>
              <a:rPr lang="en-US" b="true" sz="2421" spc="-72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PROBABILISTIC TEXT CLASSIFICATION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01596" y="2536016"/>
            <a:ext cx="4330068" cy="3581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5"/>
              </a:lnSpc>
            </a:pPr>
            <a:r>
              <a:rPr lang="en-US" sz="2053" spc="-18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</a:t>
            </a:r>
            <a:r>
              <a:rPr lang="en-US" sz="2053" spc="-18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model is a custom implementation</a:t>
            </a:r>
          </a:p>
          <a:p>
            <a:pPr algn="l" marL="0" indent="0" lvl="0">
              <a:lnSpc>
                <a:spcPts val="2875"/>
              </a:lnSpc>
            </a:pPr>
            <a:r>
              <a:rPr lang="en-US" sz="2053" spc="-18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of Multinomial Naive Bayes</a:t>
            </a:r>
          </a:p>
          <a:p>
            <a:pPr algn="l" marL="0" indent="0" lvl="0">
              <a:lnSpc>
                <a:spcPts val="2875"/>
              </a:lnSpc>
            </a:pPr>
            <a:r>
              <a:rPr lang="en-US" sz="2053" spc="-18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for SMS spam classification.</a:t>
            </a:r>
          </a:p>
          <a:p>
            <a:pPr algn="l" marL="0" indent="0" lvl="0">
              <a:lnSpc>
                <a:spcPts val="2875"/>
              </a:lnSpc>
            </a:pPr>
            <a:r>
              <a:rPr lang="en-US" sz="2053" spc="-18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 uses word frequencies and probability theory</a:t>
            </a:r>
          </a:p>
          <a:p>
            <a:pPr algn="l" marL="0" indent="0" lvl="0">
              <a:lnSpc>
                <a:spcPts val="2875"/>
              </a:lnSpc>
            </a:pPr>
            <a:r>
              <a:rPr lang="en-US" sz="2053" spc="-18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to determine whether a message is spam or ham.</a:t>
            </a:r>
          </a:p>
          <a:p>
            <a:pPr algn="l" marL="0" indent="0" lvl="0">
              <a:lnSpc>
                <a:spcPts val="2875"/>
              </a:lnSpc>
            </a:pPr>
            <a:r>
              <a:rPr lang="en-US" sz="2053" spc="-18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model is trained from scratch</a:t>
            </a:r>
          </a:p>
          <a:p>
            <a:pPr algn="l" marL="0" indent="0" lvl="0">
              <a:lnSpc>
                <a:spcPts val="2875"/>
              </a:lnSpc>
            </a:pPr>
            <a:r>
              <a:rPr lang="en-US" sz="2053" spc="-18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without external machine learning libraries.</a:t>
            </a:r>
          </a:p>
          <a:p>
            <a:pPr algn="l" marL="0" indent="0" lvl="0">
              <a:lnSpc>
                <a:spcPts val="287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01596" y="6262483"/>
            <a:ext cx="4330068" cy="156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-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CHARACTERISTICS: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-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• BAG-OF-WORDS REPRESENTATION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-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• LOG-PROBABILITIES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-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• LAPLACE SMOOTHING (ALPHA)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-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• HIGH INTERPRETABILITY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98978" y="1028700"/>
            <a:ext cx="7560322" cy="6750287"/>
          </a:xfrm>
          <a:custGeom>
            <a:avLst/>
            <a:gdLst/>
            <a:ahLst/>
            <a:cxnLst/>
            <a:rect r="r" b="b" t="t" l="l"/>
            <a:pathLst>
              <a:path h="6750287" w="7560322">
                <a:moveTo>
                  <a:pt x="0" y="0"/>
                </a:moveTo>
                <a:lnTo>
                  <a:pt x="7560322" y="0"/>
                </a:lnTo>
                <a:lnTo>
                  <a:pt x="7560322" y="6750287"/>
                </a:lnTo>
                <a:lnTo>
                  <a:pt x="0" y="6750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2706" y="1323466"/>
            <a:ext cx="8721294" cy="239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15"/>
              </a:lnSpc>
            </a:pPr>
            <a:r>
              <a:rPr lang="en-US" b="true" sz="7614" spc="-167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CONFUSION MATRIX EXPLANATION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3467" y="4470519"/>
            <a:ext cx="8099772" cy="391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2742" spc="-8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INTERPRETATION</a:t>
            </a:r>
          </a:p>
          <a:p>
            <a:pPr algn="l">
              <a:lnSpc>
                <a:spcPts val="1899"/>
              </a:lnSpc>
            </a:pPr>
          </a:p>
          <a:p>
            <a:pPr algn="l">
              <a:lnSpc>
                <a:spcPts val="1899"/>
              </a:lnSpc>
            </a:pPr>
          </a:p>
          <a:p>
            <a:pPr algn="l" marL="440956" indent="-220478" lvl="1">
              <a:lnSpc>
                <a:spcPts val="1899"/>
              </a:lnSpc>
              <a:buFont typeface="Arial"/>
              <a:buChar char="•"/>
            </a:pPr>
            <a:r>
              <a:rPr lang="en-US" sz="2042" spc="-61">
                <a:solidFill>
                  <a:srgbClr val="CA0013"/>
                </a:solidFill>
                <a:latin typeface="Inter"/>
                <a:ea typeface="Inter"/>
                <a:cs typeface="Inter"/>
                <a:sym typeface="Inter"/>
              </a:rPr>
              <a:t>THE MODEL CORRECTLY CLASSIFIES THE MAJORITY OF MESSAGES.</a:t>
            </a:r>
          </a:p>
          <a:p>
            <a:pPr algn="l">
              <a:lnSpc>
                <a:spcPts val="1899"/>
              </a:lnSpc>
            </a:pPr>
          </a:p>
          <a:p>
            <a:pPr algn="l" marL="440956" indent="-220478" lvl="1">
              <a:lnSpc>
                <a:spcPts val="1899"/>
              </a:lnSpc>
              <a:buFont typeface="Arial"/>
              <a:buChar char="•"/>
            </a:pPr>
            <a:r>
              <a:rPr lang="en-US" sz="2042" spc="-61">
                <a:solidFill>
                  <a:srgbClr val="CA0013"/>
                </a:solidFill>
                <a:latin typeface="Inter"/>
                <a:ea typeface="Inter"/>
                <a:cs typeface="Inter"/>
                <a:sym typeface="Inter"/>
              </a:rPr>
              <a:t>ONLY </a:t>
            </a:r>
            <a:r>
              <a:rPr lang="en-US" sz="2042" spc="-61">
                <a:solidFill>
                  <a:srgbClr val="CA0013"/>
                </a:solidFill>
                <a:latin typeface="Inter"/>
                <a:ea typeface="Inter"/>
                <a:cs typeface="Inter"/>
                <a:sym typeface="Inter"/>
              </a:rPr>
              <a:t>A SMALL NUMBER OF HAM MESSAGES ARE INCORRECTLY MARKED AS SPAM, WHICH IS IMPORTANT FOR REAL-WORLD USABILITY.</a:t>
            </a:r>
          </a:p>
          <a:p>
            <a:pPr algn="l">
              <a:lnSpc>
                <a:spcPts val="1899"/>
              </a:lnSpc>
            </a:pPr>
          </a:p>
          <a:p>
            <a:pPr algn="l" marL="440956" indent="-220478" lvl="1">
              <a:lnSpc>
                <a:spcPts val="1899"/>
              </a:lnSpc>
              <a:buFont typeface="Arial"/>
              <a:buChar char="•"/>
            </a:pPr>
            <a:r>
              <a:rPr lang="en-US" sz="2042" spc="-61">
                <a:solidFill>
                  <a:srgbClr val="CA0013"/>
                </a:solidFill>
                <a:latin typeface="Inter"/>
                <a:ea typeface="Inter"/>
                <a:cs typeface="Inter"/>
                <a:sym typeface="Inter"/>
              </a:rPr>
              <a:t>THE MODEL DEMONSTRATES HIGH ACCURACY AND STRONG RELIABILITY, ESPECIALLY IN DETECTING SPAM MESSAGES.</a:t>
            </a:r>
          </a:p>
          <a:p>
            <a:pPr algn="l">
              <a:lnSpc>
                <a:spcPts val="1899"/>
              </a:lnSpc>
            </a:pPr>
          </a:p>
          <a:p>
            <a:pPr algn="l" marL="440956" indent="-220478" lvl="1">
              <a:lnSpc>
                <a:spcPts val="1899"/>
              </a:lnSpc>
              <a:buFont typeface="Arial"/>
              <a:buChar char="•"/>
            </a:pPr>
            <a:r>
              <a:rPr lang="en-US" sz="2042" spc="-61">
                <a:solidFill>
                  <a:srgbClr val="CA0013"/>
                </a:solidFill>
                <a:latin typeface="Inter"/>
                <a:ea typeface="Inter"/>
                <a:cs typeface="Inter"/>
                <a:sym typeface="Inter"/>
              </a:rPr>
              <a:t>FALSE NEGATIVES (SPAM CLASSIFIED AS HAM) ARE MINIMAL, INDICATING GOOD SPAM DETECTION PERFORMANCE.</a:t>
            </a:r>
          </a:p>
          <a:p>
            <a:pPr algn="l" marL="0" indent="0" lvl="0">
              <a:lnSpc>
                <a:spcPts val="18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33467" y="8564483"/>
            <a:ext cx="12940424" cy="93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-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INSIGHT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-5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CONFUSION MATRIX CONFIRMS THAT THE NAIVE BAYES CLASSIFIER PERFORMS EFFECTIVELY ON TEXT DATA AND ACHIEVES A GOOD BALANCE BETWEEN PRECISION AND RECALL.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01235" y="839233"/>
            <a:ext cx="8796150" cy="5816454"/>
          </a:xfrm>
          <a:custGeom>
            <a:avLst/>
            <a:gdLst/>
            <a:ahLst/>
            <a:cxnLst/>
            <a:rect r="r" b="b" t="t" l="l"/>
            <a:pathLst>
              <a:path h="5816454" w="8796150">
                <a:moveTo>
                  <a:pt x="0" y="0"/>
                </a:moveTo>
                <a:lnTo>
                  <a:pt x="8796151" y="0"/>
                </a:lnTo>
                <a:lnTo>
                  <a:pt x="8796151" y="5816455"/>
                </a:lnTo>
                <a:lnTo>
                  <a:pt x="0" y="5816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1299" y="1077358"/>
            <a:ext cx="7491816" cy="406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73"/>
              </a:lnSpc>
            </a:pPr>
            <a:r>
              <a:rPr lang="en-US" b="true" sz="10910" spc="-796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Spam Word Frequency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1299" y="5855719"/>
            <a:ext cx="6630282" cy="219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 spc="-1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Why This Matters</a:t>
            </a: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 spc="-1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diagram demonstrates that the model learns meaningful patterns from data, not random noise.</a:t>
            </a: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 spc="-1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 confirms the interpretability of the Naive Bayes approach: we can directly see which words influence predictions.</a:t>
            </a: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 spc="-1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Such analysis helps understand why a message is classified as spam.</a:t>
            </a:r>
          </a:p>
          <a:p>
            <a:pPr algn="l" marL="0" indent="0" lvl="0">
              <a:lnSpc>
                <a:spcPts val="252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701235" y="7120968"/>
            <a:ext cx="9010428" cy="156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-54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TOP INDICATIVE WORDS FOR SPAM CLASS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-54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THIS CHART SHOWS THE MOST FREQUENT WORDS APPEARING IN SPAM MESSAGES LEARNED BY THE NAIVE BAYES MODEL DURING TRAINING.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-54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THE MODEL BUILDS A FREQUENCY-BASED REPRESENTATION OF SPAM TEXTS AND IDENTIFIES WORDS THAT ARE HIGHLY INDICATIVE OF THE SPAM CLASS.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1299" y="3381335"/>
            <a:ext cx="9202884" cy="5137094"/>
          </a:xfrm>
          <a:custGeom>
            <a:avLst/>
            <a:gdLst/>
            <a:ahLst/>
            <a:cxnLst/>
            <a:rect r="r" b="b" t="t" l="l"/>
            <a:pathLst>
              <a:path h="5137094" w="9202884">
                <a:moveTo>
                  <a:pt x="0" y="0"/>
                </a:moveTo>
                <a:lnTo>
                  <a:pt x="9202884" y="0"/>
                </a:lnTo>
                <a:lnTo>
                  <a:pt x="9202884" y="5137094"/>
                </a:lnTo>
                <a:lnTo>
                  <a:pt x="0" y="5137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1299" y="801945"/>
            <a:ext cx="9932384" cy="169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24"/>
              </a:lnSpc>
            </a:pPr>
            <a:r>
              <a:rPr lang="en-US" b="true" sz="7879" spc="-929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HYPERPARAMETER TUNING (ALPHA)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91350" y="1917869"/>
            <a:ext cx="7410306" cy="2590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72"/>
              </a:lnSpc>
            </a:pPr>
            <a:r>
              <a:rPr lang="en-US" b="true" sz="2228" spc="-6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Hyperparamete</a:t>
            </a:r>
            <a:r>
              <a:rPr lang="en-US" b="true" sz="2228" spc="-6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 Optimization: Laplace Smoothing (α)</a:t>
            </a:r>
          </a:p>
          <a:p>
            <a:pPr algn="just" marL="0" indent="0" lvl="0">
              <a:lnSpc>
                <a:spcPts val="2072"/>
              </a:lnSpc>
            </a:pPr>
          </a:p>
          <a:p>
            <a:pPr algn="just" marL="0" indent="0" lvl="0">
              <a:lnSpc>
                <a:spcPts val="2072"/>
              </a:lnSpc>
            </a:pPr>
            <a:r>
              <a:rPr lang="en-US" sz="2228" spc="-6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 this experiment, we performed </a:t>
            </a:r>
            <a:r>
              <a:rPr lang="en-US" b="true" sz="2228" spc="-6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hyperparameter tuning</a:t>
            </a:r>
            <a:r>
              <a:rPr lang="en-US" sz="2228" spc="-6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for the Naive Bayes classifier by testing different values of the </a:t>
            </a:r>
            <a:r>
              <a:rPr lang="en-US" b="true" sz="2228" spc="-6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Laplace smoothing parameter (α).</a:t>
            </a:r>
          </a:p>
          <a:p>
            <a:pPr algn="just" marL="0" indent="0" lvl="0">
              <a:lnSpc>
                <a:spcPts val="2072"/>
              </a:lnSpc>
            </a:pPr>
          </a:p>
          <a:p>
            <a:pPr algn="just" marL="0" indent="0" lvl="0">
              <a:lnSpc>
                <a:spcPts val="2072"/>
              </a:lnSpc>
            </a:pPr>
            <a:r>
              <a:rPr lang="en-US" sz="2228" spc="-6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Laplace smoothing controls how the model handles rare or unseen words and helps prevent zero probabilities during classification.</a:t>
            </a:r>
          </a:p>
          <a:p>
            <a:pPr algn="just" marL="0" indent="0" lvl="0">
              <a:lnSpc>
                <a:spcPts val="207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424808" y="5179425"/>
            <a:ext cx="4791644" cy="55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2"/>
              </a:lnSpc>
            </a:pPr>
            <a:r>
              <a:rPr lang="en-US" b="true" sz="2274" spc="-68">
                <a:solidFill>
                  <a:srgbClr val="000000"/>
                </a:solidFill>
                <a:latin typeface="Inter Heavy"/>
                <a:ea typeface="Inter Heavy"/>
                <a:cs typeface="Inter Heavy"/>
                <a:sym typeface="Inter Heavy"/>
              </a:rPr>
              <a:t>RESULTS</a:t>
            </a:r>
            <a:r>
              <a:rPr lang="en-US" b="true" sz="2274" spc="-68" strike="noStrike" u="none">
                <a:solidFill>
                  <a:srgbClr val="000000"/>
                </a:solidFill>
                <a:latin typeface="Inter Heavy"/>
                <a:ea typeface="Inter Heavy"/>
                <a:cs typeface="Inter Heavy"/>
                <a:sym typeface="Inter Heavy"/>
              </a:rPr>
              <a:t> &amp; INTERPRETATION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24808" y="5927699"/>
            <a:ext cx="7343389" cy="210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5116" indent="-217558" lvl="1">
              <a:lnSpc>
                <a:spcPts val="2821"/>
              </a:lnSpc>
              <a:buFont typeface="Arial"/>
              <a:buChar char="•"/>
            </a:pPr>
            <a:r>
              <a:rPr lang="en-US" b="true" sz="2015" spc="-60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THE BEST VALIDATION PERFORMANCE WAS ACHIEVED AT Α = 0.1.</a:t>
            </a:r>
          </a:p>
          <a:p>
            <a:pPr algn="l" marL="435116" indent="-217558" lvl="1">
              <a:lnSpc>
                <a:spcPts val="2821"/>
              </a:lnSpc>
              <a:buFont typeface="Arial"/>
              <a:buChar char="•"/>
            </a:pPr>
            <a:r>
              <a:rPr lang="en-US" b="true" sz="2015" spc="-60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SMALLER VALUES OF Α PROVIDED BETTER GENERALIZATION FOR THIS DATASET.</a:t>
            </a:r>
          </a:p>
          <a:p>
            <a:pPr algn="l" marL="435116" indent="-217558" lvl="1">
              <a:lnSpc>
                <a:spcPts val="2821"/>
              </a:lnSpc>
              <a:buFont typeface="Arial"/>
              <a:buChar char="•"/>
            </a:pPr>
            <a:r>
              <a:rPr lang="en-US" b="true" sz="2015" spc="-60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LARGER Α VALUES LED TO EXCESSIVE SMOOTHING, SLIGHTLY REDUCING ACCURACY.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810310"/>
            <a:ext cx="5378220" cy="5762083"/>
          </a:xfrm>
          <a:custGeom>
            <a:avLst/>
            <a:gdLst/>
            <a:ahLst/>
            <a:cxnLst/>
            <a:rect r="r" b="b" t="t" l="l"/>
            <a:pathLst>
              <a:path h="5762083" w="5378220">
                <a:moveTo>
                  <a:pt x="0" y="0"/>
                </a:moveTo>
                <a:lnTo>
                  <a:pt x="5378220" y="0"/>
                </a:lnTo>
                <a:lnTo>
                  <a:pt x="5378220" y="5762083"/>
                </a:lnTo>
                <a:lnTo>
                  <a:pt x="0" y="5762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04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23775"/>
            <a:ext cx="7836782" cy="265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82"/>
              </a:lnSpc>
              <a:spcBef>
                <a:spcPct val="0"/>
              </a:spcBef>
            </a:pPr>
            <a:r>
              <a:rPr lang="en-US" b="true" sz="8459" spc="-99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CL</a:t>
            </a:r>
            <a:r>
              <a:rPr lang="en-US" b="true" sz="8459" spc="-998" strike="noStrike" u="none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ASS DISTRIBUTION (EDA)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45598" y="6310278"/>
            <a:ext cx="6524089" cy="2131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17"/>
              </a:lnSpc>
              <a:spcBef>
                <a:spcPct val="0"/>
              </a:spcBef>
            </a:pPr>
            <a:r>
              <a:rPr lang="en-US" b="true" sz="2298" spc="-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</a:t>
            </a:r>
            <a:r>
              <a:rPr lang="en-US" b="true" sz="2298" spc="-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EY OBSERVATIONS</a:t>
            </a:r>
          </a:p>
          <a:p>
            <a:pPr algn="just" marL="354934" indent="-177467" lvl="1">
              <a:lnSpc>
                <a:spcPts val="2301"/>
              </a:lnSpc>
              <a:spcBef>
                <a:spcPct val="0"/>
              </a:spcBef>
              <a:buFont typeface="Arial"/>
              <a:buChar char="•"/>
            </a:pPr>
            <a:r>
              <a:rPr lang="en-US" sz="1643" spc="-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dataset is imbalanced, with a significantly larger number of ham messages.</a:t>
            </a:r>
          </a:p>
          <a:p>
            <a:pPr algn="just" marL="354934" indent="-177467" lvl="1">
              <a:lnSpc>
                <a:spcPts val="2301"/>
              </a:lnSpc>
              <a:spcBef>
                <a:spcPct val="0"/>
              </a:spcBef>
              <a:buFont typeface="Arial"/>
              <a:buChar char="•"/>
            </a:pPr>
            <a:r>
              <a:rPr lang="en-US" sz="1643" spc="-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Spam messages represent a smaller but important portion of the data.</a:t>
            </a:r>
          </a:p>
          <a:p>
            <a:pPr algn="just" marL="354934" indent="-177467" lvl="1">
              <a:lnSpc>
                <a:spcPts val="2301"/>
              </a:lnSpc>
              <a:spcBef>
                <a:spcPct val="0"/>
              </a:spcBef>
              <a:buFont typeface="Arial"/>
              <a:buChar char="•"/>
            </a:pPr>
            <a:r>
              <a:rPr lang="en-US" sz="1643" spc="-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Such imbalance is typical for real-world spam detection tasks.</a:t>
            </a:r>
          </a:p>
          <a:p>
            <a:pPr algn="just">
              <a:lnSpc>
                <a:spcPts val="2301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245598" y="2219464"/>
            <a:ext cx="7548438" cy="311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b="true" sz="3285" spc="-9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CLASS DISTRIBUTION: SPAM VS HAM</a:t>
            </a:r>
          </a:p>
          <a:p>
            <a:pPr algn="l">
              <a:lnSpc>
                <a:spcPts val="3066"/>
              </a:lnSpc>
            </a:pPr>
            <a:r>
              <a:rPr lang="en-US" b="true" sz="2190" spc="-6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THIS CHART ILLUSTRATES THE DISTRIBUTION OF CLASSES IN THE DATASET USED FOR TRAINING AND EVALUATION.</a:t>
            </a:r>
          </a:p>
          <a:p>
            <a:pPr algn="l" marL="577988" indent="-288994" lvl="1">
              <a:lnSpc>
                <a:spcPts val="3747"/>
              </a:lnSpc>
              <a:buFont typeface="Arial"/>
              <a:buChar char="•"/>
            </a:pPr>
            <a:r>
              <a:rPr lang="en-US" sz="2677" spc="-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Total samples: 5,572</a:t>
            </a:r>
          </a:p>
          <a:p>
            <a:pPr algn="l" marL="577988" indent="-288994" lvl="1">
              <a:lnSpc>
                <a:spcPts val="3747"/>
              </a:lnSpc>
              <a:buFont typeface="Arial"/>
              <a:buChar char="•"/>
            </a:pPr>
            <a:r>
              <a:rPr lang="en-US" sz="2677" spc="-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Ham messages: 4,825 (≈ 86.6%)</a:t>
            </a:r>
          </a:p>
          <a:p>
            <a:pPr algn="l" marL="577988" indent="-288994" lvl="1">
              <a:lnSpc>
                <a:spcPts val="3747"/>
              </a:lnSpc>
              <a:buFont typeface="Arial"/>
              <a:buChar char="•"/>
            </a:pPr>
            <a:r>
              <a:rPr lang="en-US" sz="2677" spc="-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Spam messages: 747 (≈ 13.4%)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1299" y="4017745"/>
            <a:ext cx="9142527" cy="5759792"/>
          </a:xfrm>
          <a:custGeom>
            <a:avLst/>
            <a:gdLst/>
            <a:ahLst/>
            <a:cxnLst/>
            <a:rect r="r" b="b" t="t" l="l"/>
            <a:pathLst>
              <a:path h="5759792" w="9142527">
                <a:moveTo>
                  <a:pt x="0" y="0"/>
                </a:moveTo>
                <a:lnTo>
                  <a:pt x="9142527" y="0"/>
                </a:lnTo>
                <a:lnTo>
                  <a:pt x="9142527" y="5759792"/>
                </a:lnTo>
                <a:lnTo>
                  <a:pt x="0" y="5759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1299" y="801945"/>
            <a:ext cx="9932384" cy="169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24"/>
              </a:lnSpc>
            </a:pPr>
            <a:r>
              <a:rPr lang="en-US" b="true" sz="7879" spc="-929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MESSAGE LENGTH ANALYSIS (EDA)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1299" y="2969908"/>
            <a:ext cx="7410306" cy="1047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72"/>
              </a:lnSpc>
            </a:pPr>
            <a:r>
              <a:rPr lang="en-US" b="true" sz="2228" spc="-6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Dist</a:t>
            </a:r>
            <a:r>
              <a:rPr lang="en-US" b="true" sz="2228" spc="-6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ribution of Message Lengths</a:t>
            </a:r>
          </a:p>
          <a:p>
            <a:pPr algn="just" marL="0" indent="0" lvl="0">
              <a:lnSpc>
                <a:spcPts val="2072"/>
              </a:lnSpc>
            </a:pPr>
            <a:r>
              <a:rPr lang="en-US" b="true" sz="2228" spc="-6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This plot shows the distribution of message lengths (in characters) for both classes: ham and spam.</a:t>
            </a:r>
          </a:p>
          <a:p>
            <a:pPr algn="just" marL="0" indent="0" lvl="0">
              <a:lnSpc>
                <a:spcPts val="207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563683" y="4059266"/>
            <a:ext cx="4268373" cy="690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b="true" sz="2864" spc="-85">
                <a:solidFill>
                  <a:srgbClr val="000000"/>
                </a:solidFill>
                <a:latin typeface="Inter Heavy"/>
                <a:ea typeface="Inter Heavy"/>
                <a:cs typeface="Inter Heavy"/>
                <a:sym typeface="Inter Heavy"/>
              </a:rPr>
              <a:t>WHY THI</a:t>
            </a:r>
            <a:r>
              <a:rPr lang="en-US" b="true" sz="2864" spc="-85">
                <a:solidFill>
                  <a:srgbClr val="000000"/>
                </a:solidFill>
                <a:latin typeface="Inter Heavy"/>
                <a:ea typeface="Inter Heavy"/>
                <a:cs typeface="Inter Heavy"/>
                <a:sym typeface="Inter Heavy"/>
              </a:rPr>
              <a:t>S</a:t>
            </a:r>
            <a:r>
              <a:rPr lang="en-US" b="true" sz="2864" spc="-85" strike="noStrike" u="none">
                <a:solidFill>
                  <a:srgbClr val="000000"/>
                </a:solidFill>
                <a:latin typeface="Inter Heavy"/>
                <a:ea typeface="Inter Heavy"/>
                <a:cs typeface="Inter Heavy"/>
                <a:sym typeface="Inter Heavy"/>
              </a:rPr>
              <a:t> MATTERS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24808" y="5068860"/>
            <a:ext cx="7372012" cy="360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7356" indent="-248678" lvl="1">
              <a:lnSpc>
                <a:spcPts val="3225"/>
              </a:lnSpc>
              <a:buFont typeface="Arial"/>
              <a:buChar char="•"/>
            </a:pPr>
            <a:r>
              <a:rPr lang="en-US" b="true" sz="2303" spc="-69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MESSAG</a:t>
            </a:r>
            <a:r>
              <a:rPr lang="en-US" b="true" sz="2303" spc="-69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E LENGTH PROVIDES AN ADDITIONAL DISCRIMINATIVE SIGNAL FOR CLASSIFICATION.</a:t>
            </a:r>
          </a:p>
          <a:p>
            <a:pPr algn="l" marL="497356" indent="-248678" lvl="1">
              <a:lnSpc>
                <a:spcPts val="3225"/>
              </a:lnSpc>
              <a:buFont typeface="Arial"/>
              <a:buChar char="•"/>
            </a:pPr>
            <a:r>
              <a:rPr lang="en-US" b="true" sz="2303" spc="-69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LONGER MESSAGES OFTEN INCLUDE:</a:t>
            </a:r>
          </a:p>
          <a:p>
            <a:pPr algn="l" marL="994712" indent="-331571" lvl="2">
              <a:lnSpc>
                <a:spcPts val="3225"/>
              </a:lnSpc>
              <a:buFont typeface="Arial"/>
              <a:buChar char="⚬"/>
            </a:pPr>
            <a:r>
              <a:rPr lang="en-US" b="true" sz="2303" spc="-69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ADVERTISEMENTS</a:t>
            </a:r>
          </a:p>
          <a:p>
            <a:pPr algn="l" marL="994712" indent="-331571" lvl="2">
              <a:lnSpc>
                <a:spcPts val="3225"/>
              </a:lnSpc>
              <a:buFont typeface="Arial"/>
              <a:buChar char="⚬"/>
            </a:pPr>
            <a:r>
              <a:rPr lang="en-US" b="true" sz="2303" spc="-69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CALL-TO-ACTION PHRASES</a:t>
            </a:r>
          </a:p>
          <a:p>
            <a:pPr algn="l" marL="994712" indent="-331571" lvl="2">
              <a:lnSpc>
                <a:spcPts val="3225"/>
              </a:lnSpc>
              <a:buFont typeface="Arial"/>
              <a:buChar char="⚬"/>
            </a:pPr>
            <a:r>
              <a:rPr lang="en-US" b="true" sz="2303" spc="-69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DETAILED OFFERS</a:t>
            </a:r>
          </a:p>
          <a:p>
            <a:pPr algn="l" marL="497356" indent="-248678" lvl="1">
              <a:lnSpc>
                <a:spcPts val="3225"/>
              </a:lnSpc>
              <a:buFont typeface="Arial"/>
              <a:buChar char="•"/>
            </a:pPr>
            <a:r>
              <a:rPr lang="en-US" b="true" sz="2303" spc="-69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THIS SUPPORTS THE EFFECTIVENESS OF WORD-BASED PROBABILISTIC MODELS SUCH AS NAIVE BAYES.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24808" y="1191112"/>
            <a:ext cx="6666096" cy="2537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b="true" sz="300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Observations</a:t>
            </a:r>
          </a:p>
          <a:p>
            <a:pPr algn="l" marL="412119" indent="-206059" lvl="1">
              <a:lnSpc>
                <a:spcPts val="2672"/>
              </a:lnSpc>
              <a:buFont typeface="Arial"/>
              <a:buChar char="•"/>
            </a:pPr>
            <a:r>
              <a:rPr lang="en-US" b="true" sz="190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Ham messages are generally shorter and concentrated at lower character counts.</a:t>
            </a:r>
          </a:p>
          <a:p>
            <a:pPr algn="l" marL="412119" indent="-206059" lvl="1">
              <a:lnSpc>
                <a:spcPts val="2672"/>
              </a:lnSpc>
              <a:buFont typeface="Arial"/>
              <a:buChar char="•"/>
            </a:pPr>
            <a:r>
              <a:rPr lang="en-US" b="true" sz="190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Spam messages tend to be longer on average, often containing promotional or informational content.</a:t>
            </a:r>
          </a:p>
          <a:p>
            <a:pPr algn="l" marL="412119" indent="-206059" lvl="1">
              <a:lnSpc>
                <a:spcPts val="2672"/>
              </a:lnSpc>
              <a:buFont typeface="Arial"/>
              <a:buChar char="•"/>
            </a:pPr>
            <a:r>
              <a:rPr lang="en-US" b="true" sz="190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There is a noticeable shift in the distribution of spam messages toward higher message lengths.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5170" y="848332"/>
            <a:ext cx="16557660" cy="3104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03"/>
              </a:lnSpc>
            </a:pPr>
            <a:r>
              <a:rPr lang="en-US" b="true" sz="14434" spc="-1703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MODEL INFERENCE EXAMPLES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65170" y="4317563"/>
            <a:ext cx="9569483" cy="82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Real-World Message Classification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slide demonstrates how the trained Naive Bayes model classifies previously unseen messages.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Several real-world–like examples were passed to the model to evaluate its practical behavior.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5170" y="5459916"/>
            <a:ext cx="8278830" cy="379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3"/>
              </a:lnSpc>
              <a:spcBef>
                <a:spcPct val="0"/>
              </a:spcBef>
            </a:pPr>
            <a:r>
              <a:rPr lang="en-US" b="true" sz="183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Ex</a:t>
            </a:r>
            <a:r>
              <a:rPr lang="en-US" b="true" sz="183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ample Predictions</a:t>
            </a:r>
          </a:p>
          <a:p>
            <a:pPr algn="l" marL="396836" indent="-198418" lvl="1">
              <a:lnSpc>
                <a:spcPts val="25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3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“You have been selected to receive a £1000 cash prize…”</a:t>
            </a:r>
          </a:p>
          <a:p>
            <a:pPr algn="l" marL="396836" indent="-198418" lvl="1">
              <a:lnSpc>
                <a:spcPts val="25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3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 → Spam</a:t>
            </a:r>
          </a:p>
          <a:p>
            <a:pPr algn="l" marL="396836" indent="-198418" lvl="1">
              <a:lnSpc>
                <a:spcPts val="25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3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“I’ll be at the office around 10 am. See you then.”</a:t>
            </a:r>
          </a:p>
          <a:p>
            <a:pPr algn="l" marL="396836" indent="-198418" lvl="1">
              <a:lnSpc>
                <a:spcPts val="25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3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 → Ham</a:t>
            </a:r>
          </a:p>
          <a:p>
            <a:pPr algn="l" marL="396836" indent="-198418" lvl="1">
              <a:lnSpc>
                <a:spcPts val="25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3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“Your Apple ID has been locked due to unauthorized login attempts…”</a:t>
            </a:r>
          </a:p>
          <a:p>
            <a:pPr algn="l" marL="396836" indent="-198418" lvl="1">
              <a:lnSpc>
                <a:spcPts val="25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3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 → Spam</a:t>
            </a:r>
          </a:p>
          <a:p>
            <a:pPr algn="l" marL="396836" indent="-198418" lvl="1">
              <a:lnSpc>
                <a:spcPts val="25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3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“Did you finish the report for tomorrow?”</a:t>
            </a:r>
          </a:p>
          <a:p>
            <a:pPr algn="l" marL="396836" indent="-198418" lvl="1">
              <a:lnSpc>
                <a:spcPts val="25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3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 → Ham</a:t>
            </a:r>
          </a:p>
          <a:p>
            <a:pPr algn="l" marL="396836" indent="-198418" lvl="1">
              <a:lnSpc>
                <a:spcPts val="25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3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“Shop now! 50% off on all items…”</a:t>
            </a:r>
          </a:p>
          <a:p>
            <a:pPr algn="l" marL="396836" indent="-198418" lvl="1">
              <a:lnSpc>
                <a:spcPts val="25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3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 → Spam</a:t>
            </a:r>
          </a:p>
          <a:p>
            <a:pPr algn="l">
              <a:lnSpc>
                <a:spcPts val="2573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362338" y="5534384"/>
            <a:ext cx="6896962" cy="193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</a:t>
            </a:r>
            <a:r>
              <a:rPr lang="en-US" b="true" sz="1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erpretation</a:t>
            </a:r>
          </a:p>
          <a:p>
            <a:pPr algn="l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model correctly identifies promotional, urgent, and phishing-like messages as spam.</a:t>
            </a:r>
          </a:p>
          <a:p>
            <a:pPr algn="l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Neutral and conversational messages are classified as ham.</a:t>
            </a:r>
          </a:p>
          <a:p>
            <a:pPr algn="l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confirms that the model generalizes well beyond the training dataset.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362338" y="8156204"/>
            <a:ext cx="6896962" cy="110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Ins</a:t>
            </a:r>
            <a:r>
              <a:rPr lang="en-US" b="true" sz="1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ight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inference results show that the classifier is practically usable, interpretable, and effective for real-world spam detection tasks.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DAG7rjKZ404</dc:identifier>
  <dcterms:modified xsi:type="dcterms:W3CDTF">2011-08-01T06:04:30Z</dcterms:modified>
  <cp:revision>1</cp:revision>
  <dc:title>presented by</dc:title>
</cp:coreProperties>
</file>